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40d7144a2542f9" /><Relationship Type="http://schemas.openxmlformats.org/officeDocument/2006/relationships/extended-properties" Target="/docProps/app.xml" Id="Rbd91f553cdcb438f" /><Relationship Type="http://schemas.openxmlformats.org/officeDocument/2006/relationships/officeDocument" Target="/ppt/presentation.xml" Id="R31c7f3daeea94f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437cf236754f8d"/>
  </p:sldMasterIdLst>
  <p:notesMasterIdLst>
    <p:notesMasterId xmlns:r="http://schemas.openxmlformats.org/officeDocument/2006/relationships" r:id="R2b8b99166d794021"/>
  </p:notesMasterIdLst>
  <p:sldIdLst>
    <p:sldId xmlns:r="http://schemas.openxmlformats.org/officeDocument/2006/relationships" id="256" r:id="R598c4addabf349be"/>
    <p:sldId xmlns:r="http://schemas.openxmlformats.org/officeDocument/2006/relationships" id="257" r:id="Rfa2414438d324675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ce847f0c30480b" /><Relationship Type="http://schemas.openxmlformats.org/officeDocument/2006/relationships/slideMaster" Target="/ppt/slideMasters/slideMaster1.xml" Id="R5f437cf236754f8d" /><Relationship Type="http://schemas.openxmlformats.org/officeDocument/2006/relationships/notesMaster" Target="/ppt/notesMasters/notesMaster1.xml" Id="R2b8b99166d794021" /><Relationship Type="http://schemas.openxmlformats.org/officeDocument/2006/relationships/presProps" Target="/ppt/presProps.xml" Id="R35724780b32c4f33" /><Relationship Type="http://schemas.openxmlformats.org/officeDocument/2006/relationships/tableStyles" Target="/ppt/tableStyles.xml" Id="R69a5da18402d49b7" /><Relationship Type="http://schemas.openxmlformats.org/officeDocument/2006/relationships/slide" Target="/ppt/slides/slide1.xml" Id="R598c4addabf349be" /><Relationship Type="http://schemas.openxmlformats.org/officeDocument/2006/relationships/slide" Target="/ppt/slides/slide2.xml" Id="Rfa2414438d3246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a693518c7941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da4b25696843fd" /><Relationship Type="http://schemas.openxmlformats.org/officeDocument/2006/relationships/notesMaster" Target="/ppt/notesMasters/notesMaster1.xml" Id="Rb630ae8fe43f44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4637005ab243b3" /><Relationship Type="http://schemas.openxmlformats.org/officeDocument/2006/relationships/notesMaster" Target="/ppt/notesMasters/notesMaster1.xml" Id="Rfd5f2aa9627445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6a09b3c0ee41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2826e643654b34" /><Relationship Type="http://schemas.openxmlformats.org/officeDocument/2006/relationships/slideLayout" Target="/ppt/slideLayouts/slideLayout1.xml" Id="Ra50b81c75b544c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0b81c75b544c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309370eae452b" /><Relationship Type="http://schemas.openxmlformats.org/officeDocument/2006/relationships/notesSlide" Target="/ppt/notesSlides/notesSlide1.xml" Id="R792c1472d36042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5f53740b154cfb" /><Relationship Type="http://schemas.openxmlformats.org/officeDocument/2006/relationships/notesSlide" Target="/ppt/notesSlides/notesSlide2.xml" Id="R40ac727e020942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E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outer-card">
            <a:extLst xmlns:a="http://schemas.openxmlformats.org/drawingml/2006/main">
              <a:ext uri="{FF2B5EF4-FFF2-40B4-BE49-F238E27FC236}">
                <a16:creationId xmlns:a16="http://schemas.microsoft.com/office/drawing/2014/main" id="{7F7B3FF6-3DDD-4CD8-82D4-FBEBDCA8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7068800" cy="9067800"/>
          </a:xfrm>
          <a:prstGeom xmlns:a="http://schemas.openxmlformats.org/drawingml/2006/main" prst="roundRect">
            <a:avLst>
              <a:gd name="adj" fmla="val 16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E9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3782DCDC-E463-49C5-BB87-DDD5EC74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38250"/>
            <a:ext cx="5334000" cy="400050"/>
          </a:xfrm>
          <a:prstGeom xmlns:a="http://schemas.openxmlformats.org/drawingml/2006/main" prst="roundRect">
            <a:avLst>
              <a:gd name="adj" fmla="val 3809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5717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55717F"/>
                </a:solidFill>
                <a:latin typeface="Aptos"/>
                <a:ea typeface="Aptos"/>
                <a:cs typeface="Aptos"/>
              </a:rPr>
              <a:t>AI WORKFLOW DESIGN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2CE873-4007-47EB-88DC-A2287D92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47875"/>
            <a:ext cx="9715500" cy="15240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One router turns agent</a:t>
            </a:r>
          </a:p>
          <a:p xmlns:a="http://schemas.openxmlformats.org/drawingml/2006/main">
            <a:pPr algn="l">
              <a:defRPr sz="5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sprawl into governed work.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10CA8FC3-44C1-4FE0-BA0A-938F6B95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95750"/>
            <a:ext cx="10001250" cy="876300"/>
          </a:xfrm>
          <a:prstGeom xmlns:a="http://schemas.openxmlformats.org/drawingml/2006/main" prst="roundRect">
            <a:avLst>
              <a:gd name="adj" fmla="val 1739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34B5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334B5B"/>
                </a:solidFill>
                <a:latin typeface="Aptos"/>
                <a:ea typeface="Aptos"/>
                <a:cs typeface="Aptos"/>
              </a:rPr>
              <a:t>Route once, hand off tight context, and quality-gate the work</a:t>
            </a:r>
          </a:p>
          <a:p xmlns:a="http://schemas.openxmlformats.org/drawingml/2006/main">
            <a:pPr algn="l">
              <a:defRPr sz="2400" b="1">
                <a:solidFill>
                  <a:srgbClr val="334B5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334B5B"/>
                </a:solidFill>
                <a:latin typeface="Aptos"/>
                <a:ea typeface="Aptos"/>
                <a:cs typeface="Aptos"/>
              </a:rPr>
              <a:t>before it becomes the final answer.</a:t>
            </a:r>
          </a:p>
        </p:txBody>
      </p:sp>
      <p:sp>
        <p:nvSpPr>
          <p:cNvPr id="5" name="callout">
            <a:extLst xmlns:a="http://schemas.openxmlformats.org/drawingml/2006/main">
              <a:ext uri="{FF2B5EF4-FFF2-40B4-BE49-F238E27FC236}">
                <a16:creationId xmlns:a16="http://schemas.microsoft.com/office/drawing/2014/main" id="{56FC7B40-00AD-4066-B8CE-254C0C22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1314450"/>
            <a:ext cx="417195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19050">
            <a:solidFill>
              <a:srgbClr val="D8E5EA"/>
            </a:solidFill>
            <a:prstDash val="solid"/>
          </a:ln>
        </p:spPr>
      </p:sp>
      <p:sp>
        <p:nvSpPr>
          <p:cNvPr id="6" name="callout-title">
            <a:extLst xmlns:a="http://schemas.openxmlformats.org/drawingml/2006/main">
              <a:ext uri="{FF2B5EF4-FFF2-40B4-BE49-F238E27FC236}">
                <a16:creationId xmlns:a16="http://schemas.microsoft.com/office/drawing/2014/main" id="{98E9EBD8-2DB6-47A6-888E-3B776646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1733550"/>
            <a:ext cx="3048000" cy="38100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it prevents</a:t>
            </a:r>
          </a:p>
        </p:txBody>
      </p:sp>
      <p:sp>
        <p:nvSpPr>
          <p:cNvPr id="7" name="callout-0-dot">
            <a:extLst xmlns:a="http://schemas.openxmlformats.org/drawingml/2006/main">
              <a:ext uri="{FF2B5EF4-FFF2-40B4-BE49-F238E27FC236}">
                <a16:creationId xmlns:a16="http://schemas.microsoft.com/office/drawing/2014/main" id="{5CBE0723-69F7-41D6-8CBE-0E16CBD6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2371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allout-0-text">
            <a:extLst xmlns:a="http://schemas.openxmlformats.org/drawingml/2006/main">
              <a:ext uri="{FF2B5EF4-FFF2-40B4-BE49-F238E27FC236}">
                <a16:creationId xmlns:a16="http://schemas.microsoft.com/office/drawing/2014/main" id="{DDECF1E4-3E34-4F57-90C9-F82583C6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2324100"/>
            <a:ext cx="3333750" cy="38100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3647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36476"/>
                </a:solidFill>
                <a:latin typeface="Aptos"/>
                <a:ea typeface="Aptos"/>
                <a:cs typeface="Aptos"/>
              </a:rPr>
              <a:t>Duplicate context.</a:t>
            </a:r>
          </a:p>
        </p:txBody>
      </p:sp>
      <p:sp>
        <p:nvSpPr>
          <p:cNvPr id="9" name="callout-1-dot">
            <a:extLst xmlns:a="http://schemas.openxmlformats.org/drawingml/2006/main">
              <a:ext uri="{FF2B5EF4-FFF2-40B4-BE49-F238E27FC236}">
                <a16:creationId xmlns:a16="http://schemas.microsoft.com/office/drawing/2014/main" id="{657074B4-ED6D-4DD7-8659-2FCB6457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2781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llout-1-text">
            <a:extLst xmlns:a="http://schemas.openxmlformats.org/drawingml/2006/main">
              <a:ext uri="{FF2B5EF4-FFF2-40B4-BE49-F238E27FC236}">
                <a16:creationId xmlns:a16="http://schemas.microsoft.com/office/drawing/2014/main" id="{FFE0446A-0BA7-49C1-A454-CE8BBCB3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2733675"/>
            <a:ext cx="3333750" cy="38100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3647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36476"/>
                </a:solidFill>
                <a:latin typeface="Aptos"/>
                <a:ea typeface="Aptos"/>
                <a:cs typeface="Aptos"/>
              </a:rPr>
              <a:t>Overlapping roles.</a:t>
            </a:r>
          </a:p>
        </p:txBody>
      </p:sp>
      <p:sp>
        <p:nvSpPr>
          <p:cNvPr id="11" name="callout-2-dot">
            <a:extLst xmlns:a="http://schemas.openxmlformats.org/drawingml/2006/main">
              <a:ext uri="{FF2B5EF4-FFF2-40B4-BE49-F238E27FC236}">
                <a16:creationId xmlns:a16="http://schemas.microsoft.com/office/drawing/2014/main" id="{15A3EC4B-7035-45DC-8A5C-8A547A60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3190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allout-2-text">
            <a:extLst xmlns:a="http://schemas.openxmlformats.org/drawingml/2006/main">
              <a:ext uri="{FF2B5EF4-FFF2-40B4-BE49-F238E27FC236}">
                <a16:creationId xmlns:a16="http://schemas.microsoft.com/office/drawing/2014/main" id="{67F9682B-4667-4A1E-9265-1C9BC1EC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3143250"/>
            <a:ext cx="3333750" cy="38100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3647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36476"/>
                </a:solidFill>
                <a:latin typeface="Aptos"/>
                <a:ea typeface="Aptos"/>
                <a:cs typeface="Aptos"/>
              </a:rPr>
              <a:t>Ungated output.</a:t>
            </a:r>
          </a:p>
        </p:txBody>
      </p:sp>
      <p:sp>
        <p:nvSpPr>
          <p:cNvPr id="13" name="input-lane">
            <a:extLst xmlns:a="http://schemas.openxmlformats.org/drawingml/2006/main">
              <a:ext uri="{FF2B5EF4-FFF2-40B4-BE49-F238E27FC236}">
                <a16:creationId xmlns:a16="http://schemas.microsoft.com/office/drawing/2014/main" id="{36C601B6-9C3B-4FF4-B9F5-117478CD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28575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19050">
            <a:solidFill>
              <a:srgbClr val="D8E5EA"/>
            </a:solidFill>
            <a:prstDash val="solid"/>
          </a:ln>
        </p:spPr>
      </p:sp>
      <p:sp>
        <p:nvSpPr>
          <p:cNvPr id="14" name="input-title">
            <a:extLst xmlns:a="http://schemas.openxmlformats.org/drawingml/2006/main">
              <a:ext uri="{FF2B5EF4-FFF2-40B4-BE49-F238E27FC236}">
                <a16:creationId xmlns:a16="http://schemas.microsoft.com/office/drawing/2014/main" id="{E563AD0B-F5FF-4C09-842E-73185211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62650"/>
            <a:ext cx="1333500" cy="3048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717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5717F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5" name="request-card">
            <a:extLst xmlns:a="http://schemas.openxmlformats.org/drawingml/2006/main">
              <a:ext uri="{FF2B5EF4-FFF2-40B4-BE49-F238E27FC236}">
                <a16:creationId xmlns:a16="http://schemas.microsoft.com/office/drawing/2014/main" id="{8FD29E0C-D890-40C3-BCFB-B7D18D47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438900"/>
            <a:ext cx="22860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DE4"/>
            </a:solidFill>
            <a:prstDash val="solid"/>
          </a:ln>
        </p:spPr>
      </p:sp>
      <p:sp>
        <p:nvSpPr>
          <p:cNvPr id="16" name="badge-1">
            <a:extLst xmlns:a="http://schemas.openxmlformats.org/drawingml/2006/main">
              <a:ext uri="{FF2B5EF4-FFF2-40B4-BE49-F238E27FC236}">
                <a16:creationId xmlns:a16="http://schemas.microsoft.com/office/drawing/2014/main" id="{4B55492B-78F1-4292-B062-5A49A570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572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dge-1-text">
            <a:extLst xmlns:a="http://schemas.openxmlformats.org/drawingml/2006/main">
              <a:ext uri="{FF2B5EF4-FFF2-40B4-BE49-F238E27FC236}">
                <a16:creationId xmlns:a16="http://schemas.microsoft.com/office/drawing/2014/main" id="{E9505AAF-C752-4166-8154-BF40F0F7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6638925"/>
            <a:ext cx="247650" cy="2857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request-title">
            <a:extLst xmlns:a="http://schemas.openxmlformats.org/drawingml/2006/main">
              <a:ext uri="{FF2B5EF4-FFF2-40B4-BE49-F238E27FC236}">
                <a16:creationId xmlns:a16="http://schemas.microsoft.com/office/drawing/2014/main" id="{E9466C19-0A64-45A3-B478-FB7DFA40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029450"/>
            <a:ext cx="1790700" cy="361950"/>
          </a:xfrm>
          <a:prstGeom xmlns:a="http://schemas.openxmlformats.org/drawingml/2006/main" prst="roundRect">
            <a:avLst>
              <a:gd name="adj" fmla="val 4210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19" name="input-router-arrow">
            <a:extLst xmlns:a="http://schemas.openxmlformats.org/drawingml/2006/main">
              <a:ext uri="{FF2B5EF4-FFF2-40B4-BE49-F238E27FC236}">
                <a16:creationId xmlns:a16="http://schemas.microsoft.com/office/drawing/2014/main" id="{C1C2791C-DF9C-464B-A742-29E3F711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781800"/>
            <a:ext cx="7239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outer-lane">
            <a:extLst xmlns:a="http://schemas.openxmlformats.org/drawingml/2006/main">
              <a:ext uri="{FF2B5EF4-FFF2-40B4-BE49-F238E27FC236}">
                <a16:creationId xmlns:a16="http://schemas.microsoft.com/office/drawing/2014/main" id="{A426D292-85D9-437D-A891-BE08E9A1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715000"/>
            <a:ext cx="30480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19050">
            <a:solidFill>
              <a:srgbClr val="D8E5EA"/>
            </a:solidFill>
            <a:prstDash val="solid"/>
          </a:ln>
        </p:spPr>
      </p:sp>
      <p:sp>
        <p:nvSpPr>
          <p:cNvPr id="21" name="router-lane-title">
            <a:extLst xmlns:a="http://schemas.openxmlformats.org/drawingml/2006/main">
              <a:ext uri="{FF2B5EF4-FFF2-40B4-BE49-F238E27FC236}">
                <a16:creationId xmlns:a16="http://schemas.microsoft.com/office/drawing/2014/main" id="{0F8D2472-D6BD-4AF5-9304-744A01BF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962650"/>
            <a:ext cx="1524000" cy="3048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717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5717F"/>
                </a:solidFill>
                <a:latin typeface="Aptos"/>
                <a:ea typeface="Aptos"/>
                <a:cs typeface="Aptos"/>
              </a:rPr>
              <a:t>ROUTER</a:t>
            </a:r>
          </a:p>
        </p:txBody>
      </p:sp>
      <p:sp>
        <p:nvSpPr>
          <p:cNvPr id="22" name="router-outer">
            <a:extLst xmlns:a="http://schemas.openxmlformats.org/drawingml/2006/main">
              <a:ext uri="{FF2B5EF4-FFF2-40B4-BE49-F238E27FC236}">
                <a16:creationId xmlns:a16="http://schemas.microsoft.com/office/drawing/2014/main" id="{C1D2C545-8D25-438D-8FF0-50A356E1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115050"/>
            <a:ext cx="1600200" cy="160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19050">
            <a:solidFill>
              <a:srgbClr val="2F6F8F"/>
            </a:solidFill>
            <a:prstDash val="solid"/>
          </a:ln>
        </p:spPr>
      </p:sp>
      <p:sp>
        <p:nvSpPr>
          <p:cNvPr id="23" name="router-inner">
            <a:extLst xmlns:a="http://schemas.openxmlformats.org/drawingml/2006/main">
              <a:ext uri="{FF2B5EF4-FFF2-40B4-BE49-F238E27FC236}">
                <a16:creationId xmlns:a16="http://schemas.microsoft.com/office/drawing/2014/main" id="{5ED52A2A-E667-4960-BBA5-1D190C01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4579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router-word">
            <a:extLst xmlns:a="http://schemas.openxmlformats.org/drawingml/2006/main">
              <a:ext uri="{FF2B5EF4-FFF2-40B4-BE49-F238E27FC236}">
                <a16:creationId xmlns:a16="http://schemas.microsoft.com/office/drawing/2014/main" id="{3501D211-AA19-465F-A7E6-E64445F8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6772275"/>
            <a:ext cx="1524000" cy="323850"/>
          </a:xfrm>
          <a:prstGeom xmlns:a="http://schemas.openxmlformats.org/drawingml/2006/main" prst="roundRect">
            <a:avLst>
              <a:gd name="adj" fmla="val 4705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Router</a:t>
            </a:r>
          </a:p>
        </p:txBody>
      </p:sp>
      <p:sp>
        <p:nvSpPr>
          <p:cNvPr id="25" name="router-caption">
            <a:extLst xmlns:a="http://schemas.openxmlformats.org/drawingml/2006/main">
              <a:ext uri="{FF2B5EF4-FFF2-40B4-BE49-F238E27FC236}">
                <a16:creationId xmlns:a16="http://schemas.microsoft.com/office/drawing/2014/main" id="{6E0430D6-62DC-4BA1-85CE-6945F2B0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7734300"/>
            <a:ext cx="2571750" cy="2667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3647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36476"/>
                </a:solidFill>
                <a:latin typeface="Aptos"/>
                <a:ea typeface="Aptos"/>
                <a:cs typeface="Aptos"/>
              </a:rPr>
              <a:t>front door + token miser</a:t>
            </a:r>
          </a:p>
        </p:txBody>
      </p:sp>
      <p:sp>
        <p:nvSpPr>
          <p:cNvPr id="26" name="router-plan-arrow">
            <a:extLst xmlns:a="http://schemas.openxmlformats.org/drawingml/2006/main">
              <a:ext uri="{FF2B5EF4-FFF2-40B4-BE49-F238E27FC236}">
                <a16:creationId xmlns:a16="http://schemas.microsoft.com/office/drawing/2014/main" id="{84B9DBD0-86DE-4E9F-B3FD-0B350977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781800"/>
            <a:ext cx="7239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lan-lane">
            <a:extLst xmlns:a="http://schemas.openxmlformats.org/drawingml/2006/main">
              <a:ext uri="{FF2B5EF4-FFF2-40B4-BE49-F238E27FC236}">
                <a16:creationId xmlns:a16="http://schemas.microsoft.com/office/drawing/2014/main" id="{344A7B0E-2D9F-44E9-8F10-855CD447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715000"/>
            <a:ext cx="32385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19050">
            <a:solidFill>
              <a:srgbClr val="D8E5EA"/>
            </a:solidFill>
            <a:prstDash val="solid"/>
          </a:ln>
        </p:spPr>
      </p:sp>
      <p:sp>
        <p:nvSpPr>
          <p:cNvPr id="28" name="plan-title">
            <a:extLst xmlns:a="http://schemas.openxmlformats.org/drawingml/2006/main">
              <a:ext uri="{FF2B5EF4-FFF2-40B4-BE49-F238E27FC236}">
                <a16:creationId xmlns:a16="http://schemas.microsoft.com/office/drawing/2014/main" id="{CC8015F5-B8B4-46BC-A0B3-98BF3D0B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962650"/>
            <a:ext cx="2190750" cy="3048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717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5717F"/>
                </a:solidFill>
                <a:latin typeface="Aptos"/>
                <a:ea typeface="Aptos"/>
                <a:cs typeface="Aptos"/>
              </a:rPr>
              <a:t>MINIMUM PLAN</a:t>
            </a:r>
          </a:p>
        </p:txBody>
      </p:sp>
      <p:sp>
        <p:nvSpPr>
          <p:cNvPr id="29" name="plan-Strategy">
            <a:extLst xmlns:a="http://schemas.openxmlformats.org/drawingml/2006/main">
              <a:ext uri="{FF2B5EF4-FFF2-40B4-BE49-F238E27FC236}">
                <a16:creationId xmlns:a16="http://schemas.microsoft.com/office/drawing/2014/main" id="{1CBC05F5-0582-4290-93B4-79D82179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477000"/>
            <a:ext cx="104775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DF3FB"/>
          </a:solidFill>
          <a:ln xmlns:a="http://schemas.openxmlformats.org/drawingml/2006/main" w="19050">
            <a:solidFill>
              <a:srgbClr val="B8C8DC"/>
            </a:solidFill>
            <a:prstDash val="solid"/>
          </a:ln>
        </p:spPr>
      </p:sp>
      <p:sp>
        <p:nvSpPr>
          <p:cNvPr id="30" name="plan-Strategy-text">
            <a:extLst xmlns:a="http://schemas.openxmlformats.org/drawingml/2006/main">
              <a:ext uri="{FF2B5EF4-FFF2-40B4-BE49-F238E27FC236}">
                <a16:creationId xmlns:a16="http://schemas.microsoft.com/office/drawing/2014/main" id="{F6052DBE-8D36-42E6-91A3-1C0A340E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591300"/>
            <a:ext cx="81915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3647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36476"/>
                </a:solidFill>
                <a:latin typeface="Aptos"/>
                <a:ea typeface="Aptos"/>
                <a:cs typeface="Aptos"/>
              </a:rPr>
              <a:t>Strategy</a:t>
            </a:r>
          </a:p>
        </p:txBody>
      </p:sp>
      <p:sp>
        <p:nvSpPr>
          <p:cNvPr id="31" name="plan-Design">
            <a:extLst xmlns:a="http://schemas.openxmlformats.org/drawingml/2006/main">
              <a:ext uri="{FF2B5EF4-FFF2-40B4-BE49-F238E27FC236}">
                <a16:creationId xmlns:a16="http://schemas.microsoft.com/office/drawing/2014/main" id="{7AF14612-6F2D-4BD6-85E4-336E45C0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77000"/>
            <a:ext cx="104775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DF3FB"/>
          </a:solidFill>
          <a:ln xmlns:a="http://schemas.openxmlformats.org/drawingml/2006/main" w="19050">
            <a:solidFill>
              <a:srgbClr val="B8C8DC"/>
            </a:solidFill>
            <a:prstDash val="solid"/>
          </a:ln>
        </p:spPr>
      </p:sp>
      <p:sp>
        <p:nvSpPr>
          <p:cNvPr id="32" name="plan-Design-text">
            <a:extLst xmlns:a="http://schemas.openxmlformats.org/drawingml/2006/main">
              <a:ext uri="{FF2B5EF4-FFF2-40B4-BE49-F238E27FC236}">
                <a16:creationId xmlns:a16="http://schemas.microsoft.com/office/drawing/2014/main" id="{44EC07A2-DA38-46A4-85A3-08DDF890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91300"/>
            <a:ext cx="81915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3647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36476"/>
                </a:solidFill>
                <a:latin typeface="Aptos"/>
                <a:ea typeface="Aptos"/>
                <a:cs typeface="Aptos"/>
              </a:rPr>
              <a:t>Design</a:t>
            </a:r>
          </a:p>
        </p:txBody>
      </p:sp>
      <p:sp>
        <p:nvSpPr>
          <p:cNvPr id="33" name="plan-Verify">
            <a:extLst xmlns:a="http://schemas.openxmlformats.org/drawingml/2006/main">
              <a:ext uri="{FF2B5EF4-FFF2-40B4-BE49-F238E27FC236}">
                <a16:creationId xmlns:a16="http://schemas.microsoft.com/office/drawing/2014/main" id="{7AC3EC91-8FB2-4416-8B5C-BEAB2CAF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7219950"/>
            <a:ext cx="104775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9EB"/>
          </a:solidFill>
          <a:ln xmlns:a="http://schemas.openxmlformats.org/drawingml/2006/main" w="19050">
            <a:solidFill>
              <a:srgbClr val="C9922E"/>
            </a:solidFill>
            <a:prstDash val="solid"/>
          </a:ln>
        </p:spPr>
      </p:sp>
      <p:sp>
        <p:nvSpPr>
          <p:cNvPr id="34" name="plan-Verify-text">
            <a:extLst xmlns:a="http://schemas.openxmlformats.org/drawingml/2006/main">
              <a:ext uri="{FF2B5EF4-FFF2-40B4-BE49-F238E27FC236}">
                <a16:creationId xmlns:a16="http://schemas.microsoft.com/office/drawing/2014/main" id="{50365A69-7F9D-493C-9710-53BCD05C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7334250"/>
            <a:ext cx="81915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3647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36476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35" name="plan-Build">
            <a:extLst xmlns:a="http://schemas.openxmlformats.org/drawingml/2006/main">
              <a:ext uri="{FF2B5EF4-FFF2-40B4-BE49-F238E27FC236}">
                <a16:creationId xmlns:a16="http://schemas.microsoft.com/office/drawing/2014/main" id="{50CB8233-A526-41FF-A087-70FEC1FE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7219950"/>
            <a:ext cx="104775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19050">
            <a:solidFill>
              <a:srgbClr val="CBD9DF"/>
            </a:solidFill>
            <a:prstDash val="solid"/>
          </a:ln>
        </p:spPr>
      </p:sp>
      <p:sp>
        <p:nvSpPr>
          <p:cNvPr id="36" name="plan-Build-text">
            <a:extLst xmlns:a="http://schemas.openxmlformats.org/drawingml/2006/main">
              <a:ext uri="{FF2B5EF4-FFF2-40B4-BE49-F238E27FC236}">
                <a16:creationId xmlns:a16="http://schemas.microsoft.com/office/drawing/2014/main" id="{D193C0AF-C567-4AF5-B852-1E49EB55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7334250"/>
            <a:ext cx="81915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3647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36476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37" name="plan-link-1">
            <a:extLst xmlns:a="http://schemas.openxmlformats.org/drawingml/2006/main">
              <a:ext uri="{FF2B5EF4-FFF2-40B4-BE49-F238E27FC236}">
                <a16:creationId xmlns:a16="http://schemas.microsoft.com/office/drawing/2014/main" id="{09995A17-BCDA-4696-9020-2D687A46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7056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FB4C0"/>
            </a:solidFill>
            <a:prstDash val="dash"/>
          </a:ln>
        </p:spPr>
      </p:sp>
      <p:sp>
        <p:nvSpPr>
          <p:cNvPr id="38" name="plan-link-2">
            <a:extLst xmlns:a="http://schemas.openxmlformats.org/drawingml/2006/main">
              <a:ext uri="{FF2B5EF4-FFF2-40B4-BE49-F238E27FC236}">
                <a16:creationId xmlns:a16="http://schemas.microsoft.com/office/drawing/2014/main" id="{969CD9FB-2E6F-46F3-98FE-F99650E2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972300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FB4C0"/>
            </a:solidFill>
            <a:prstDash val="dash"/>
          </a:ln>
        </p:spPr>
      </p:sp>
      <p:sp>
        <p:nvSpPr>
          <p:cNvPr id="39" name="plan-link-3">
            <a:extLst xmlns:a="http://schemas.openxmlformats.org/drawingml/2006/main">
              <a:ext uri="{FF2B5EF4-FFF2-40B4-BE49-F238E27FC236}">
                <a16:creationId xmlns:a16="http://schemas.microsoft.com/office/drawing/2014/main" id="{C00991A9-99AF-477D-BEBA-D58D13C2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74485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FB4C0"/>
            </a:solidFill>
            <a:prstDash val="dash"/>
          </a:ln>
        </p:spPr>
      </p:sp>
      <p:sp>
        <p:nvSpPr>
          <p:cNvPr id="40" name="plan-caption">
            <a:extLst xmlns:a="http://schemas.openxmlformats.org/drawingml/2006/main">
              <a:ext uri="{FF2B5EF4-FFF2-40B4-BE49-F238E27FC236}">
                <a16:creationId xmlns:a16="http://schemas.microsoft.com/office/drawing/2014/main" id="{840C4B9F-8729-4501-BE57-FAA6A6C4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7791450"/>
            <a:ext cx="3000375" cy="2667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3647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36476"/>
                </a:solidFill>
                <a:latin typeface="Aptos"/>
                <a:ea typeface="Aptos"/>
                <a:cs typeface="Aptos"/>
              </a:rPr>
              <a:t>context packets, not transcripts</a:t>
            </a:r>
          </a:p>
        </p:txBody>
      </p:sp>
      <p:sp>
        <p:nvSpPr>
          <p:cNvPr id="41" name="plan-gate-arrow">
            <a:extLst xmlns:a="http://schemas.openxmlformats.org/drawingml/2006/main">
              <a:ext uri="{FF2B5EF4-FFF2-40B4-BE49-F238E27FC236}">
                <a16:creationId xmlns:a16="http://schemas.microsoft.com/office/drawing/2014/main" id="{8F90AF6F-891E-450E-A15A-B9185392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6781800"/>
            <a:ext cx="55245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quality-gate">
            <a:extLst xmlns:a="http://schemas.openxmlformats.org/drawingml/2006/main">
              <a:ext uri="{FF2B5EF4-FFF2-40B4-BE49-F238E27FC236}">
                <a16:creationId xmlns:a16="http://schemas.microsoft.com/office/drawing/2014/main" id="{0CB6A6C9-3769-41A3-BFD2-E3FCD719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6248400"/>
            <a:ext cx="19050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9EB"/>
          </a:solidFill>
          <a:ln xmlns:a="http://schemas.openxmlformats.org/drawingml/2006/main" w="19050">
            <a:solidFill>
              <a:srgbClr val="C9922E"/>
            </a:solidFill>
            <a:prstDash val="solid"/>
          </a:ln>
        </p:spPr>
      </p:sp>
      <p:sp>
        <p:nvSpPr>
          <p:cNvPr id="43" name="badge-3">
            <a:extLst xmlns:a="http://schemas.openxmlformats.org/drawingml/2006/main">
              <a:ext uri="{FF2B5EF4-FFF2-40B4-BE49-F238E27FC236}">
                <a16:creationId xmlns:a16="http://schemas.microsoft.com/office/drawing/2014/main" id="{B4D15B65-7181-4CCD-A2A8-CD0E40E5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6419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badge-3-text">
            <a:extLst xmlns:a="http://schemas.openxmlformats.org/drawingml/2006/main">
              <a:ext uri="{FF2B5EF4-FFF2-40B4-BE49-F238E27FC236}">
                <a16:creationId xmlns:a16="http://schemas.microsoft.com/office/drawing/2014/main" id="{F2CDDF9B-C723-4215-8CAD-1472ABE4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6486525"/>
            <a:ext cx="247650" cy="2857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5" name="quality-title">
            <a:extLst xmlns:a="http://schemas.openxmlformats.org/drawingml/2006/main">
              <a:ext uri="{FF2B5EF4-FFF2-40B4-BE49-F238E27FC236}">
                <a16:creationId xmlns:a16="http://schemas.microsoft.com/office/drawing/2014/main" id="{C3F19B67-A009-44D3-96FE-162A7CF2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0" y="6496050"/>
            <a:ext cx="1524000" cy="666750"/>
          </a:xfrm>
          <a:prstGeom xmlns:a="http://schemas.openxmlformats.org/drawingml/2006/main" prst="roundRect">
            <a:avLst>
              <a:gd name="adj" fmla="val 2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Quality</a:t>
            </a:r>
          </a:p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46" name="quality-copy">
            <a:extLst xmlns:a="http://schemas.openxmlformats.org/drawingml/2006/main">
              <a:ext uri="{FF2B5EF4-FFF2-40B4-BE49-F238E27FC236}">
                <a16:creationId xmlns:a16="http://schemas.microsoft.com/office/drawing/2014/main" id="{49D520FD-B90A-46BD-9575-73D8C0B0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7277100"/>
            <a:ext cx="1428750" cy="2476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47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36476"/>
                </a:solidFill>
                <a:latin typeface="Aptos"/>
                <a:ea typeface="Aptos"/>
                <a:cs typeface="Aptos"/>
              </a:rPr>
              <a:t>scope, conflict</a:t>
            </a:r>
          </a:p>
        </p:txBody>
      </p:sp>
      <p:sp>
        <p:nvSpPr>
          <p:cNvPr id="47" name="gate-result-arrow">
            <a:extLst xmlns:a="http://schemas.openxmlformats.org/drawingml/2006/main">
              <a:ext uri="{FF2B5EF4-FFF2-40B4-BE49-F238E27FC236}">
                <a16:creationId xmlns:a16="http://schemas.microsoft.com/office/drawing/2014/main" id="{83FC2799-0457-488A-9327-E775C414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5650" y="6781800"/>
            <a:ext cx="55245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clean-result">
            <a:extLst xmlns:a="http://schemas.openxmlformats.org/drawingml/2006/main">
              <a:ext uri="{FF2B5EF4-FFF2-40B4-BE49-F238E27FC236}">
                <a16:creationId xmlns:a16="http://schemas.microsoft.com/office/drawing/2014/main" id="{8C4F58C4-5C55-4730-AE1A-EC4D201C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6248400"/>
            <a:ext cx="16764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DE4"/>
            </a:solidFill>
            <a:prstDash val="solid"/>
          </a:ln>
        </p:spPr>
      </p:sp>
      <p:sp>
        <p:nvSpPr>
          <p:cNvPr id="49" name="clean-title">
            <a:extLst xmlns:a="http://schemas.openxmlformats.org/drawingml/2006/main">
              <a:ext uri="{FF2B5EF4-FFF2-40B4-BE49-F238E27FC236}">
                <a16:creationId xmlns:a16="http://schemas.microsoft.com/office/drawing/2014/main" id="{FD7CDB04-3EB8-48C6-B415-7500675C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6496050"/>
            <a:ext cx="1333500" cy="666750"/>
          </a:xfrm>
          <a:prstGeom xmlns:a="http://schemas.openxmlformats.org/drawingml/2006/main" prst="roundRect">
            <a:avLst>
              <a:gd name="adj" fmla="val 2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Clean</a:t>
            </a:r>
          </a:p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50" name="clean-copy">
            <a:extLst xmlns:a="http://schemas.openxmlformats.org/drawingml/2006/main">
              <a:ext uri="{FF2B5EF4-FFF2-40B4-BE49-F238E27FC236}">
                <a16:creationId xmlns:a16="http://schemas.microsoft.com/office/drawing/2014/main" id="{7F34545A-5E4E-46EF-84F4-8F3F67C8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7650" y="727710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47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36476"/>
                </a:solidFill>
                <a:latin typeface="Aptos"/>
                <a:ea typeface="Aptos"/>
                <a:cs typeface="Aptos"/>
              </a:rPr>
              <a:t>context kept</a:t>
            </a:r>
          </a:p>
        </p:txBody>
      </p:sp>
      <p:sp>
        <p:nvSpPr>
          <p:cNvPr id="5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96BA84A-10F4-4909-8007-5D90EF8D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6106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FB8C2"/>
            </a:solidFill>
            <a:prstDash val="dash"/>
          </a:ln>
        </p:spPr>
      </p:sp>
      <p:sp>
        <p:nvSpPr>
          <p:cNvPr id="5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EBE2BE8-0301-4C66-956C-4100818A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915400"/>
            <a:ext cx="5334000" cy="400050"/>
          </a:xfrm>
          <a:prstGeom xmlns:a="http://schemas.openxmlformats.org/drawingml/2006/main" prst="roundRect">
            <a:avLst>
              <a:gd name="adj" fmla="val 3809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34B5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334B5B"/>
                </a:solidFill>
                <a:latin typeface="Aptos"/>
                <a:ea typeface="Aptos"/>
                <a:cs typeface="Aptos"/>
              </a:rPr>
              <a:t>policani.net/resources.html#ai-tools</a:t>
            </a:r>
          </a:p>
        </p:txBody>
      </p:sp>
      <p:sp>
        <p:nvSpPr>
          <p:cNvPr id="5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62FA6B4-0509-485B-97C6-1E2DD333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915400"/>
            <a:ext cx="6572250" cy="400050"/>
          </a:xfrm>
          <a:prstGeom xmlns:a="http://schemas.openxmlformats.org/drawingml/2006/main" prst="roundRect">
            <a:avLst>
              <a:gd name="adj" fmla="val 3809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334B5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334B5B"/>
                </a:solidFill>
                <a:latin typeface="Aptos"/>
                <a:ea typeface="Aptos"/>
                <a:cs typeface="Aptos"/>
              </a:rPr>
              <a:t>Less token waste. Less rework. Less role sprawl.</a:t>
            </a:r>
          </a:p>
        </p:txBody>
      </p:sp>
    </p:spTree>
    <p:extLst>
      <p:ext uri="{BB962C8B-B14F-4D97-AF65-F5344CB8AC3E}">
        <p14:creationId xmlns:p14="http://schemas.microsoft.com/office/powerpoint/2010/main" val="12300895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E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outer-social">
            <a:extLst xmlns:a="http://schemas.openxmlformats.org/drawingml/2006/main">
              <a:ext uri="{FF2B5EF4-FFF2-40B4-BE49-F238E27FC236}">
                <a16:creationId xmlns:a16="http://schemas.microsoft.com/office/drawing/2014/main" id="{3108DDA0-5F8A-4583-A796-DCA58497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123950"/>
            <a:ext cx="15849600" cy="8039100"/>
          </a:xfrm>
          <a:prstGeom xmlns:a="http://schemas.openxmlformats.org/drawingml/2006/main" prst="roundRect">
            <a:avLst>
              <a:gd name="adj" fmla="val 18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E9"/>
            </a:solidFill>
            <a:prstDash val="solid"/>
          </a:ln>
        </p:spPr>
      </p:sp>
      <p:sp>
        <p:nvSpPr>
          <p:cNvPr id="2" name="social-note">
            <a:extLst xmlns:a="http://schemas.openxmlformats.org/drawingml/2006/main">
              <a:ext uri="{FF2B5EF4-FFF2-40B4-BE49-F238E27FC236}">
                <a16:creationId xmlns:a16="http://schemas.microsoft.com/office/drawing/2014/main" id="{13174B2B-864C-44C5-B599-D68AC9F4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428750"/>
            <a:ext cx="7239000" cy="2857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717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5717F"/>
                </a:solidFill>
                <a:latin typeface="Aptos"/>
                <a:ea typeface="Aptos"/>
                <a:cs typeface="Aptos"/>
              </a:rPr>
              <a:t>SOCIAL CARD SOURCE - resize/crop this slide after editing</a:t>
            </a:r>
          </a:p>
        </p:txBody>
      </p:sp>
      <p:sp>
        <p:nvSpPr>
          <p:cNvPr id="3" name="social-title">
            <a:extLst xmlns:a="http://schemas.openxmlformats.org/drawingml/2006/main">
              <a:ext uri="{FF2B5EF4-FFF2-40B4-BE49-F238E27FC236}">
                <a16:creationId xmlns:a16="http://schemas.microsoft.com/office/drawing/2014/main" id="{0562EF49-E923-4200-B570-4A352AF2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095500"/>
            <a:ext cx="8572500" cy="114300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One router turns agent</a:t>
            </a:r>
          </a:p>
          <a:p xmlns:a="http://schemas.openxmlformats.org/drawingml/2006/main">
            <a:pPr algn="l">
              <a:defRPr sz="40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sprawl into governed work.</a:t>
            </a:r>
          </a:p>
        </p:txBody>
      </p:sp>
      <p:sp>
        <p:nvSpPr>
          <p:cNvPr id="4" name="social-subtitle">
            <a:extLst xmlns:a="http://schemas.openxmlformats.org/drawingml/2006/main">
              <a:ext uri="{FF2B5EF4-FFF2-40B4-BE49-F238E27FC236}">
                <a16:creationId xmlns:a16="http://schemas.microsoft.com/office/drawing/2014/main" id="{857FCB8B-5BB8-4592-B573-FF6D9133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29000"/>
            <a:ext cx="6858000" cy="38100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34B5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34B5B"/>
                </a:solidFill>
                <a:latin typeface="Aptos"/>
                <a:ea typeface="Aptos"/>
                <a:cs typeface="Aptos"/>
              </a:rPr>
              <a:t>Minimum roles. Tight handoffs. Quality gates.</a:t>
            </a:r>
          </a:p>
        </p:txBody>
      </p:sp>
      <p:sp>
        <p:nvSpPr>
          <p:cNvPr id="5" name="social-callout">
            <a:extLst xmlns:a="http://schemas.openxmlformats.org/drawingml/2006/main">
              <a:ext uri="{FF2B5EF4-FFF2-40B4-BE49-F238E27FC236}">
                <a16:creationId xmlns:a16="http://schemas.microsoft.com/office/drawing/2014/main" id="{1C8B8E78-B8EB-4F14-B789-A3A069FE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809750"/>
            <a:ext cx="34290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19050">
            <a:solidFill>
              <a:srgbClr val="D8E5EA"/>
            </a:solidFill>
            <a:prstDash val="solid"/>
          </a:ln>
        </p:spPr>
      </p:sp>
      <p:sp>
        <p:nvSpPr>
          <p:cNvPr id="6" name="social-callout-title">
            <a:extLst xmlns:a="http://schemas.openxmlformats.org/drawingml/2006/main">
              <a:ext uri="{FF2B5EF4-FFF2-40B4-BE49-F238E27FC236}">
                <a16:creationId xmlns:a16="http://schemas.microsoft.com/office/drawing/2014/main" id="{F0684C49-F88C-4106-8FAE-F75384EF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2152650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it prevents</a:t>
            </a:r>
          </a:p>
        </p:txBody>
      </p:sp>
      <p:sp>
        <p:nvSpPr>
          <p:cNvPr id="7" name="social-callout-copy">
            <a:extLst xmlns:a="http://schemas.openxmlformats.org/drawingml/2006/main">
              <a:ext uri="{FF2B5EF4-FFF2-40B4-BE49-F238E27FC236}">
                <a16:creationId xmlns:a16="http://schemas.microsoft.com/office/drawing/2014/main" id="{3DA49EEA-969A-4EF5-9434-52B0620C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2647950"/>
            <a:ext cx="2476500" cy="742950"/>
          </a:xfrm>
          <a:prstGeom xmlns:a="http://schemas.openxmlformats.org/drawingml/2006/main" prst="roundRect">
            <a:avLst>
              <a:gd name="adj" fmla="val 2051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647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36476"/>
                </a:solidFill>
                <a:latin typeface="Aptos"/>
                <a:ea typeface="Aptos"/>
                <a:cs typeface="Aptos"/>
              </a:rPr>
              <a:t>Duplicate context.</a:t>
            </a:r>
          </a:p>
          <a:p xmlns:a="http://schemas.openxmlformats.org/drawingml/2006/main">
            <a:pPr algn="l">
              <a:defRPr sz="1275" b="1">
                <a:solidFill>
                  <a:srgbClr val="53647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36476"/>
                </a:solidFill>
                <a:latin typeface="Aptos"/>
                <a:ea typeface="Aptos"/>
                <a:cs typeface="Aptos"/>
              </a:rPr>
              <a:t>Overlapping roles.</a:t>
            </a:r>
          </a:p>
          <a:p xmlns:a="http://schemas.openxmlformats.org/drawingml/2006/main">
            <a:pPr algn="l">
              <a:defRPr sz="1275" b="1">
                <a:solidFill>
                  <a:srgbClr val="53647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36476"/>
                </a:solidFill>
                <a:latin typeface="Aptos"/>
                <a:ea typeface="Aptos"/>
                <a:cs typeface="Aptos"/>
              </a:rPr>
              <a:t>Ungated output.</a:t>
            </a:r>
          </a:p>
        </p:txBody>
      </p:sp>
      <p:sp>
        <p:nvSpPr>
          <p:cNvPr id="8" name="social-request-card">
            <a:extLst xmlns:a="http://schemas.openxmlformats.org/drawingml/2006/main">
              <a:ext uri="{FF2B5EF4-FFF2-40B4-BE49-F238E27FC236}">
                <a16:creationId xmlns:a16="http://schemas.microsoft.com/office/drawing/2014/main" id="{04324F0B-7C6E-4199-A875-1E6345B3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334000"/>
            <a:ext cx="18097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DE4"/>
            </a:solidFill>
            <a:prstDash val="solid"/>
          </a:ln>
        </p:spPr>
      </p:sp>
      <p:sp>
        <p:nvSpPr>
          <p:cNvPr id="9" name="badge-1">
            <a:extLst xmlns:a="http://schemas.openxmlformats.org/drawingml/2006/main">
              <a:ext uri="{FF2B5EF4-FFF2-40B4-BE49-F238E27FC236}">
                <a16:creationId xmlns:a16="http://schemas.microsoft.com/office/drawing/2014/main" id="{500DFE0E-B0EE-4AD9-B5B7-1B51A761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467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adge-1-text">
            <a:extLst xmlns:a="http://schemas.openxmlformats.org/drawingml/2006/main">
              <a:ext uri="{FF2B5EF4-FFF2-40B4-BE49-F238E27FC236}">
                <a16:creationId xmlns:a16="http://schemas.microsoft.com/office/drawing/2014/main" id="{9E1D51FC-C35E-4FFB-A0AC-A6A23A34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534025"/>
            <a:ext cx="247650" cy="2857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social-request-title">
            <a:extLst xmlns:a="http://schemas.openxmlformats.org/drawingml/2006/main">
              <a:ext uri="{FF2B5EF4-FFF2-40B4-BE49-F238E27FC236}">
                <a16:creationId xmlns:a16="http://schemas.microsoft.com/office/drawing/2014/main" id="{9E9DC604-70C4-4951-9ED6-F8876780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924550"/>
            <a:ext cx="1314450" cy="361950"/>
          </a:xfrm>
          <a:prstGeom xmlns:a="http://schemas.openxmlformats.org/drawingml/2006/main" prst="roundRect">
            <a:avLst>
              <a:gd name="adj" fmla="val 4210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12" name="social-a1">
            <a:extLst xmlns:a="http://schemas.openxmlformats.org/drawingml/2006/main">
              <a:ext uri="{FF2B5EF4-FFF2-40B4-BE49-F238E27FC236}">
                <a16:creationId xmlns:a16="http://schemas.microsoft.com/office/drawing/2014/main" id="{A4D1FB36-E0F2-42F8-86C1-15FC5CFB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772150"/>
            <a:ext cx="66675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ocial-router-outer">
            <a:extLst xmlns:a="http://schemas.openxmlformats.org/drawingml/2006/main">
              <a:ext uri="{FF2B5EF4-FFF2-40B4-BE49-F238E27FC236}">
                <a16:creationId xmlns:a16="http://schemas.microsoft.com/office/drawing/2014/main" id="{D846E6F3-40D3-4683-8A61-1635032D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305425"/>
            <a:ext cx="1485900" cy="1485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19050">
            <a:solidFill>
              <a:srgbClr val="2F6F8F"/>
            </a:solidFill>
            <a:prstDash val="solid"/>
          </a:ln>
        </p:spPr>
      </p:sp>
      <p:sp>
        <p:nvSpPr>
          <p:cNvPr id="14" name="social-router-inner">
            <a:extLst xmlns:a="http://schemas.openxmlformats.org/drawingml/2006/main">
              <a:ext uri="{FF2B5EF4-FFF2-40B4-BE49-F238E27FC236}">
                <a16:creationId xmlns:a16="http://schemas.microsoft.com/office/drawing/2014/main" id="{07B64116-CE65-45E3-AEF4-7C484589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61975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ocial-router-word">
            <a:extLst xmlns:a="http://schemas.openxmlformats.org/drawingml/2006/main">
              <a:ext uri="{FF2B5EF4-FFF2-40B4-BE49-F238E27FC236}">
                <a16:creationId xmlns:a16="http://schemas.microsoft.com/office/drawing/2014/main" id="{BA83CFE9-29C3-4152-8E7F-E43E6CCC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905500"/>
            <a:ext cx="1295400" cy="3048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Router</a:t>
            </a:r>
          </a:p>
        </p:txBody>
      </p:sp>
      <p:sp>
        <p:nvSpPr>
          <p:cNvPr id="16" name="social-a2">
            <a:extLst xmlns:a="http://schemas.openxmlformats.org/drawingml/2006/main">
              <a:ext uri="{FF2B5EF4-FFF2-40B4-BE49-F238E27FC236}">
                <a16:creationId xmlns:a16="http://schemas.microsoft.com/office/drawing/2014/main" id="{38F97F20-FC50-4EAE-BB7F-EC8487D1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772150"/>
            <a:ext cx="66675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cial-plan-box">
            <a:extLst xmlns:a="http://schemas.openxmlformats.org/drawingml/2006/main">
              <a:ext uri="{FF2B5EF4-FFF2-40B4-BE49-F238E27FC236}">
                <a16:creationId xmlns:a16="http://schemas.microsoft.com/office/drawing/2014/main" id="{ED4F11DD-FD40-44D8-B852-24D633BD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276850"/>
            <a:ext cx="2476500" cy="1543050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19050">
            <a:solidFill>
              <a:srgbClr val="D8E5EA"/>
            </a:solidFill>
            <a:prstDash val="solid"/>
          </a:ln>
        </p:spPr>
      </p:sp>
      <p:sp>
        <p:nvSpPr>
          <p:cNvPr id="18" name="social-plan-title">
            <a:extLst xmlns:a="http://schemas.openxmlformats.org/drawingml/2006/main">
              <a:ext uri="{FF2B5EF4-FFF2-40B4-BE49-F238E27FC236}">
                <a16:creationId xmlns:a16="http://schemas.microsoft.com/office/drawing/2014/main" id="{5CBC8908-477F-40DD-B763-C91D6368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505450"/>
            <a:ext cx="16192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3647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36476"/>
                </a:solidFill>
                <a:latin typeface="Aptos"/>
                <a:ea typeface="Aptos"/>
                <a:cs typeface="Aptos"/>
              </a:rPr>
              <a:t>Minimum plan</a:t>
            </a:r>
          </a:p>
        </p:txBody>
      </p:sp>
      <p:sp>
        <p:nvSpPr>
          <p:cNvPr id="19" name="social-plan-copy">
            <a:extLst xmlns:a="http://schemas.openxmlformats.org/drawingml/2006/main">
              <a:ext uri="{FF2B5EF4-FFF2-40B4-BE49-F238E27FC236}">
                <a16:creationId xmlns:a16="http://schemas.microsoft.com/office/drawing/2014/main" id="{926BB71A-7F7A-4AB2-B0A7-D1EA94BA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924550"/>
            <a:ext cx="1524000" cy="666750"/>
          </a:xfrm>
          <a:prstGeom xmlns:a="http://schemas.openxmlformats.org/drawingml/2006/main" prst="roundRect">
            <a:avLst>
              <a:gd name="adj" fmla="val 2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3647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36476"/>
                </a:solidFill>
                <a:latin typeface="Aptos"/>
                <a:ea typeface="Aptos"/>
                <a:cs typeface="Aptos"/>
              </a:rPr>
              <a:t>Plan  -  UX</a:t>
            </a:r>
          </a:p>
          <a:p xmlns:a="http://schemas.openxmlformats.org/drawingml/2006/main">
            <a:pPr algn="ctr">
              <a:defRPr sz="1500" b="1">
                <a:solidFill>
                  <a:srgbClr val="53647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36476"/>
                </a:solidFill>
                <a:latin typeface="Aptos"/>
                <a:ea typeface="Aptos"/>
                <a:cs typeface="Aptos"/>
              </a:rPr>
              <a:t>QA   -  Build</a:t>
            </a:r>
          </a:p>
        </p:txBody>
      </p:sp>
      <p:sp>
        <p:nvSpPr>
          <p:cNvPr id="20" name="social-a3">
            <a:extLst xmlns:a="http://schemas.openxmlformats.org/drawingml/2006/main">
              <a:ext uri="{FF2B5EF4-FFF2-40B4-BE49-F238E27FC236}">
                <a16:creationId xmlns:a16="http://schemas.microsoft.com/office/drawing/2014/main" id="{B199673A-CB3F-4B48-9D22-B6817816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772150"/>
            <a:ext cx="66675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ocial-gate-card">
            <a:extLst xmlns:a="http://schemas.openxmlformats.org/drawingml/2006/main">
              <a:ext uri="{FF2B5EF4-FFF2-40B4-BE49-F238E27FC236}">
                <a16:creationId xmlns:a16="http://schemas.microsoft.com/office/drawing/2014/main" id="{68BF1603-E0D3-4BE0-BA0F-729D4E93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334000"/>
            <a:ext cx="20002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9EB"/>
          </a:solidFill>
          <a:ln xmlns:a="http://schemas.openxmlformats.org/drawingml/2006/main" w="19050">
            <a:solidFill>
              <a:srgbClr val="C9922E"/>
            </a:solidFill>
            <a:prstDash val="solid"/>
          </a:ln>
        </p:spPr>
      </p:sp>
      <p:sp>
        <p:nvSpPr>
          <p:cNvPr id="22" name="badge-3">
            <a:extLst xmlns:a="http://schemas.openxmlformats.org/drawingml/2006/main">
              <a:ext uri="{FF2B5EF4-FFF2-40B4-BE49-F238E27FC236}">
                <a16:creationId xmlns:a16="http://schemas.microsoft.com/office/drawing/2014/main" id="{3014CB0D-1FB7-4186-9691-CC2B864E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467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adge-3-text">
            <a:extLst xmlns:a="http://schemas.openxmlformats.org/drawingml/2006/main">
              <a:ext uri="{FF2B5EF4-FFF2-40B4-BE49-F238E27FC236}">
                <a16:creationId xmlns:a16="http://schemas.microsoft.com/office/drawing/2014/main" id="{BC3A3CA1-20B5-4955-874B-2729F9D9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5534025"/>
            <a:ext cx="247650" cy="2857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social-gate-title">
            <a:extLst xmlns:a="http://schemas.openxmlformats.org/drawingml/2006/main">
              <a:ext uri="{FF2B5EF4-FFF2-40B4-BE49-F238E27FC236}">
                <a16:creationId xmlns:a16="http://schemas.microsoft.com/office/drawing/2014/main" id="{D199B3BB-86B3-4CA2-8F2E-7096B4C5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5924550"/>
            <a:ext cx="1504950" cy="361950"/>
          </a:xfrm>
          <a:prstGeom xmlns:a="http://schemas.openxmlformats.org/drawingml/2006/main" prst="roundRect">
            <a:avLst>
              <a:gd name="adj" fmla="val 4210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Quality</a:t>
            </a:r>
          </a:p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25" name="social-a4">
            <a:extLst xmlns:a="http://schemas.openxmlformats.org/drawingml/2006/main">
              <a:ext uri="{FF2B5EF4-FFF2-40B4-BE49-F238E27FC236}">
                <a16:creationId xmlns:a16="http://schemas.microsoft.com/office/drawing/2014/main" id="{9DB2F8A7-3A5E-41C0-BFCE-1BF0A076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5772150"/>
            <a:ext cx="66675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ocial-result">
            <a:extLst xmlns:a="http://schemas.openxmlformats.org/drawingml/2006/main">
              <a:ext uri="{FF2B5EF4-FFF2-40B4-BE49-F238E27FC236}">
                <a16:creationId xmlns:a16="http://schemas.microsoft.com/office/drawing/2014/main" id="{F93D9A5A-1B5B-486C-BFF1-7B1AB155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334000"/>
            <a:ext cx="18097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DE4"/>
            </a:solidFill>
            <a:prstDash val="solid"/>
          </a:ln>
        </p:spPr>
      </p:sp>
      <p:sp>
        <p:nvSpPr>
          <p:cNvPr id="27" name="social-result-text">
            <a:extLst xmlns:a="http://schemas.openxmlformats.org/drawingml/2006/main">
              <a:ext uri="{FF2B5EF4-FFF2-40B4-BE49-F238E27FC236}">
                <a16:creationId xmlns:a16="http://schemas.microsoft.com/office/drawing/2014/main" id="{9024C02B-905C-4117-A516-B349176A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5695950"/>
            <a:ext cx="1123950" cy="704850"/>
          </a:xfrm>
          <a:prstGeom xmlns:a="http://schemas.openxmlformats.org/drawingml/2006/main" prst="roundRect">
            <a:avLst>
              <a:gd name="adj" fmla="val 216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Clean</a:t>
            </a:r>
          </a:p>
          <a:p xmlns:a="http://schemas.openxmlformats.org/drawingml/2006/main">
            <a:pPr algn="ctr"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28" name="social-footer">
            <a:extLst xmlns:a="http://schemas.openxmlformats.org/drawingml/2006/main">
              <a:ext uri="{FF2B5EF4-FFF2-40B4-BE49-F238E27FC236}">
                <a16:creationId xmlns:a16="http://schemas.microsoft.com/office/drawing/2014/main" id="{C3D2EF55-9470-4987-A7B9-0B660C44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8286750"/>
            <a:ext cx="5143500" cy="2857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4B5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34B5B"/>
                </a:solidFill>
                <a:latin typeface="Aptos"/>
                <a:ea typeface="Aptos"/>
                <a:cs typeface="Aptos"/>
              </a:rPr>
              <a:t>policani.net/resources.html#ai-tools</a:t>
            </a:r>
          </a:p>
        </p:txBody>
      </p:sp>
    </p:spTree>
    <p:extLst>
      <p:ext uri="{BB962C8B-B14F-4D97-AF65-F5344CB8AC3E}">
        <p14:creationId xmlns:p14="http://schemas.microsoft.com/office/powerpoint/2010/main" val="6484896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2026-06-17T19:38:09.6020000Z</dcterms:created>
  <dcterms:modified xsi:type="dcterms:W3CDTF">2026-06-17T19:38:09.6020000Z</dcterms:modified>
</coreProperties>
</file>